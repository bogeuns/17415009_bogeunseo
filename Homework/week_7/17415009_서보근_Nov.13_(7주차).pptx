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725" r:id="rId2"/>
    <p:sldId id="1578" r:id="rId3"/>
    <p:sldId id="1579" r:id="rId4"/>
    <p:sldId id="1582" r:id="rId5"/>
    <p:sldId id="1580" r:id="rId6"/>
    <p:sldId id="1581" r:id="rId7"/>
    <p:sldId id="155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B9CDE5"/>
    <a:srgbClr val="0066FF"/>
    <a:srgbClr val="A9A9A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2" autoAdjust="0"/>
    <p:restoredTop sz="94718" autoAdjust="0"/>
  </p:normalViewPr>
  <p:slideViewPr>
    <p:cSldViewPr snapToGrid="0">
      <p:cViewPr varScale="1">
        <p:scale>
          <a:sx n="101" d="100"/>
          <a:sy n="101" d="100"/>
        </p:scale>
        <p:origin x="1470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2EBA-8585-A39F-133F-460A4718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7D6D97D2-EC0E-916F-F900-6863BDBEAC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8AF53EB-DE36-5322-E87F-DBFB5C199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3C523234-4585-366C-38A5-7FE163EB1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2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C35C-B7F5-2B6E-DEFD-936FBEC3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4E392475-32AE-9E21-9A94-73A2EE5908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FA1BC1DE-5030-86A3-A7EE-4DD7528E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52FE0AF-9F3A-CD83-B799-1C393C69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4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B34D-6B99-191E-8643-FFAC0DC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4E5980C-6E46-23CE-AB3B-9AA92848B5D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B418DECC-C2DE-72E1-2DB1-87570F0FE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7E633793-3018-69DC-B931-2D19C8811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079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D2FF-6DED-E532-62B6-51259DF0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ED20E4F6-F53D-DD18-9764-028FF35177E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B58E0E-90ED-7EB8-FB0E-9DF3DA518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C33E4F7-B83F-B8A2-CFC1-11453E1D0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979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4B73-19DB-3C0E-4DA9-D9717B30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7D098CB2-33CF-259C-00F0-FA5E4FCA2C2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5D28113-A5CC-CE13-8724-939C2310E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6631E5C1-8696-0085-DC37-8EE58DF89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5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CFD_Class_Lecture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SU2 </a:t>
            </a:r>
            <a:r>
              <a:rPr lang="ko-KR" altLang="en-US" sz="2800" dirty="0"/>
              <a:t>보고서 </a:t>
            </a:r>
            <a:r>
              <a:rPr lang="en-US" altLang="ko-KR" sz="2800" dirty="0"/>
              <a:t>(7</a:t>
            </a:r>
            <a:r>
              <a:rPr lang="ko-KR" altLang="en-US" sz="2800" dirty="0"/>
              <a:t>주차</a:t>
            </a:r>
            <a:r>
              <a:rPr lang="en-US" altLang="ko-KR" sz="2800" dirty="0"/>
              <a:t>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71" y="3707911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: </a:t>
            </a:r>
            <a:r>
              <a:rPr lang="ko-KR" altLang="en-US" dirty="0" err="1"/>
              <a:t>임동균</a:t>
            </a:r>
            <a:r>
              <a:rPr lang="ko-KR" altLang="en-US" dirty="0"/>
              <a:t> 교수님</a:t>
            </a:r>
          </a:p>
          <a:p>
            <a:pPr lvl="0">
              <a:defRPr/>
            </a:pPr>
            <a:r>
              <a:rPr lang="en-US" altLang="ko-KR" dirty="0"/>
              <a:t>Due: Nov. 13, 2025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908171" y="2723103"/>
            <a:ext cx="6375658" cy="1243734"/>
          </a:xfrm>
        </p:spPr>
        <p:txBody>
          <a:bodyPr/>
          <a:lstStyle/>
          <a:p>
            <a:pPr marL="0" lv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ko-KR" altLang="en-US" sz="230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  <a:t>서 보 근</a:t>
            </a:r>
            <a:br>
              <a:rPr kumimoji="0" lang="en-US" altLang="ko-KR" sz="2300" b="1" i="0" u="none" strike="noStrike" kern="1200" cap="none" spc="0" normalizeH="0" baseline="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</a:br>
            <a:endParaRPr kumimoji="0" lang="ko-KR" altLang="en-US" sz="2300" b="1" i="0" u="none" strike="noStrike" kern="1200" cap="none" spc="0" normalizeH="0" baseline="0" dirty="0">
              <a:solidFill>
                <a:srgbClr val="1E337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29D4-A9A1-48E5-70E1-E202800E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F554F9-66B9-3EDF-FA41-B5087015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격자 조건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BE0C6-1220-31AF-BC49-65BE82E6228E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격자 조건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D3DA7-6E3E-A73F-D415-2C47E1412F5A}"/>
              </a:ext>
            </a:extLst>
          </p:cNvPr>
          <p:cNvSpPr txBox="1"/>
          <p:nvPr/>
        </p:nvSpPr>
        <p:spPr>
          <a:xfrm>
            <a:off x="256585" y="1034343"/>
            <a:ext cx="6803265" cy="607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예제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에서는 다음과 같은 해석 격자 조건을 적용 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SOLVER = RANS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COMPRESSIBLE FREE-STREAM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MACH_NUMBER= 0.3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AOA=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FREESTREAM_TEMPERATURE= 288.15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REYNOLDS_NUMBER= 1000.0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REYNOLDS_LENGTH= 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COMMON PARAMETERS DEFINING THE NUMERICAL METHOD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NUM_METHOD_GRAD= GREEN_GAUSS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CFL_NUMBER= 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CFL_ADAPT=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CFL_ADAPT_PARAM= ( 1.5, 0.5, 1.0, 100.0 )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RK_ALPHA_COEFF= ( 0.66667, 0.66667, 1.000000 )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TIME_ITER= 99999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MULTIGRID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MGLEVEL=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MGCYCLE= V_CYCLE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MG_PRE_SMOOTH= ( 1, 2, 3, 3 )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MG_POST_SMOOTH= ( 2, 2, 2, 2 )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MG_CORRECTION_SMOOTH=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MG_DAMP_RESTRICTION= 0.7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MG_DAMP_PROLONGATION= 0.7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DYNAMIC MESH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GRID_MOVEMENT= RIGID_MOTION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MOTION_ORIGIN= 0.25 0.0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PLUNGING_OMEGA= 0.0 106.69842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PLUNGING_AMPL= 0.0 1.01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951022-4DC9-23C4-9C24-FF4A0DAF507D}"/>
              </a:ext>
            </a:extLst>
          </p:cNvPr>
          <p:cNvGrpSpPr/>
          <p:nvPr/>
        </p:nvGrpSpPr>
        <p:grpSpPr>
          <a:xfrm>
            <a:off x="8698290" y="1073067"/>
            <a:ext cx="3343828" cy="2444719"/>
            <a:chOff x="8698290" y="1073067"/>
            <a:chExt cx="3343828" cy="2444719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89C07FB-DBFB-DAF2-4843-C03C82579A9D}"/>
                </a:ext>
              </a:extLst>
            </p:cNvPr>
            <p:cNvGrpSpPr/>
            <p:nvPr/>
          </p:nvGrpSpPr>
          <p:grpSpPr>
            <a:xfrm>
              <a:off x="8698290" y="1073067"/>
              <a:ext cx="3237125" cy="2444719"/>
              <a:chOff x="8698290" y="1073067"/>
              <a:chExt cx="3237125" cy="2444719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494B7065-DDE0-35C1-CE3E-4DAD93C83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698290" y="1073067"/>
                <a:ext cx="2185602" cy="2211673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4E423A-DDA3-92F7-4571-04D9CA328E71}"/>
                  </a:ext>
                </a:extLst>
              </p:cNvPr>
              <p:cNvSpPr txBox="1"/>
              <p:nvPr/>
            </p:nvSpPr>
            <p:spPr>
              <a:xfrm>
                <a:off x="10322352" y="3286953"/>
                <a:ext cx="1613063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Fig. 1 Mesh</a:t>
                </a:r>
                <a:r>
                  <a:rPr lang="ko-KR" altLang="en-US" sz="900" dirty="0"/>
                  <a:t> </a:t>
                </a:r>
                <a:r>
                  <a:rPr lang="en-US" altLang="ko-KR" sz="900" dirty="0"/>
                  <a:t>[wireframe]</a:t>
                </a:r>
                <a:endParaRPr lang="ko-KR" altLang="en-US" sz="900" dirty="0"/>
              </a:p>
            </p:txBody>
          </p:sp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7C4640A-B19D-9918-85B4-15EF36DC8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727821" y="2584797"/>
              <a:ext cx="314297" cy="694761"/>
            </a:xfrm>
            <a:prstGeom prst="rect">
              <a:avLst/>
            </a:prstGeom>
          </p:spPr>
        </p:pic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562913-F73A-015F-3DEA-9A0622210259}"/>
              </a:ext>
            </a:extLst>
          </p:cNvPr>
          <p:cNvSpPr/>
          <p:nvPr/>
        </p:nvSpPr>
        <p:spPr>
          <a:xfrm>
            <a:off x="9679835" y="2131278"/>
            <a:ext cx="304800" cy="131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54AB48A-54A9-C505-D278-2DD0D13F905F}"/>
              </a:ext>
            </a:extLst>
          </p:cNvPr>
          <p:cNvGrpSpPr/>
          <p:nvPr/>
        </p:nvGrpSpPr>
        <p:grpSpPr>
          <a:xfrm>
            <a:off x="8925046" y="4272198"/>
            <a:ext cx="3136734" cy="1036185"/>
            <a:chOff x="8925046" y="4272198"/>
            <a:chExt cx="3136734" cy="103618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CEFBEE91-4186-2D8B-D98F-AE4ACD0D1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925" b="20925"/>
            <a:stretch/>
          </p:blipFill>
          <p:spPr>
            <a:xfrm>
              <a:off x="8925046" y="4272198"/>
              <a:ext cx="3120119" cy="70955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1DB6B4-6197-F818-5F55-0E83FF5201E7}"/>
                </a:ext>
              </a:extLst>
            </p:cNvPr>
            <p:cNvSpPr txBox="1"/>
            <p:nvPr/>
          </p:nvSpPr>
          <p:spPr>
            <a:xfrm>
              <a:off x="10152667" y="5077550"/>
              <a:ext cx="1909113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2 Mesh </a:t>
              </a:r>
              <a:r>
                <a:rPr lang="ko-KR" altLang="en-US" sz="900" dirty="0"/>
                <a:t>확대 </a:t>
              </a:r>
              <a:r>
                <a:rPr lang="en-US" altLang="ko-KR" sz="900" dirty="0"/>
                <a:t>[wireframe] </a:t>
              </a:r>
              <a:endParaRPr lang="ko-KR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799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AFF3-65F8-4B6A-EA42-9789C158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C34E28B-2EC4-3850-FF0E-3F985180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FFFFFF"/>
                </a:solidFill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해석 결과</a:t>
            </a:r>
            <a:r>
              <a:rPr lang="en-US" altLang="ko-KR" dirty="0">
                <a:solidFill>
                  <a:srgbClr val="FFFFFF"/>
                </a:solidFill>
              </a:rPr>
              <a:t> Pitching + Plunging motion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3A990-C159-6EB0-8D95-9B93AB30CD7A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</a:t>
            </a:r>
            <a:endParaRPr lang="en-US" sz="20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C68CB7E-A625-9C43-00E4-F08CA7076E8D}"/>
              </a:ext>
            </a:extLst>
          </p:cNvPr>
          <p:cNvGrpSpPr/>
          <p:nvPr/>
        </p:nvGrpSpPr>
        <p:grpSpPr>
          <a:xfrm>
            <a:off x="2204742" y="1177059"/>
            <a:ext cx="7782515" cy="5276281"/>
            <a:chOff x="332785" y="1129434"/>
            <a:chExt cx="7782515" cy="5276281"/>
          </a:xfrm>
        </p:grpSpPr>
        <p:pic>
          <p:nvPicPr>
            <p:cNvPr id="13" name="Plungubg_Pitching">
              <a:hlinkClick r:id="" action="ppaction://media"/>
              <a:extLst>
                <a:ext uri="{FF2B5EF4-FFF2-40B4-BE49-F238E27FC236}">
                  <a16:creationId xmlns:a16="http://schemas.microsoft.com/office/drawing/2014/main" id="{12D07DD0-110B-4DA7-BA00-51F951D2A360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5"/>
            <a:stretch>
              <a:fillRect/>
            </a:stretch>
          </p:blipFill>
          <p:spPr>
            <a:xfrm>
              <a:off x="332785" y="1129434"/>
              <a:ext cx="7782515" cy="5276281"/>
            </a:xfrm>
            <a:prstGeom prst="rect">
              <a:avLst/>
            </a:prstGeom>
          </p:spPr>
        </p:pic>
        <p:pic>
          <p:nvPicPr>
            <p:cNvPr id="11" name="그림 10" descr="스크린샷, 텍스트, 다채로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CB70CAD-7C29-4BFF-77A9-826A2CA73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3575" y="1266825"/>
              <a:ext cx="829799" cy="1838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42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B6A1-A715-5B74-6E15-A5FE51D1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EC12667-0DA0-1D9A-B8F8-C549AF65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FFFFFF"/>
                </a:solidFill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해석 결과</a:t>
            </a:r>
            <a:r>
              <a:rPr lang="en-US" altLang="ko-KR" dirty="0">
                <a:solidFill>
                  <a:srgbClr val="FFFFFF"/>
                </a:solidFill>
              </a:rPr>
              <a:t> Pitching + Plunging motion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2EE0B-B273-E718-4336-F5332CEECD1B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분석</a:t>
            </a:r>
            <a:endParaRPr lang="en-US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95E128-5504-D639-29D7-0469A8540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266342"/>
              </p:ext>
            </p:extLst>
          </p:nvPr>
        </p:nvGraphicFramePr>
        <p:xfrm>
          <a:off x="339706" y="1456951"/>
          <a:ext cx="5267325" cy="1463040"/>
        </p:xfrm>
        <a:graphic>
          <a:graphicData uri="http://schemas.openxmlformats.org/drawingml/2006/table">
            <a:tbl>
              <a:tblPr/>
              <a:tblGrid>
                <a:gridCol w="1038226">
                  <a:extLst>
                    <a:ext uri="{9D8B030D-6E8A-4147-A177-3AD203B41FA5}">
                      <a16:colId xmlns:a16="http://schemas.microsoft.com/office/drawing/2014/main" val="3700329549"/>
                    </a:ext>
                  </a:extLst>
                </a:gridCol>
                <a:gridCol w="4229099">
                  <a:extLst>
                    <a:ext uri="{9D8B030D-6E8A-4147-A177-3AD203B41FA5}">
                      <a16:colId xmlns:a16="http://schemas.microsoft.com/office/drawing/2014/main" val="708636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48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분석 도구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ParaView</a:t>
                      </a:r>
                      <a:r>
                        <a:rPr lang="en-US" sz="1000" dirty="0"/>
                        <a:t> (CFD Visualization)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1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입력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Unsteady flow field from transient CFD solver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6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운동 조건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Sinusoidal Pitching + Plunging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19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주요 변수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압력 계수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Cp), </a:t>
                      </a:r>
                      <a:r>
                        <a:rPr lang="ko-KR" altLang="en-US" sz="1000"/>
                        <a:t>속도장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Velocity Field), </a:t>
                      </a:r>
                      <a:r>
                        <a:rPr lang="ko-KR" altLang="en-US" sz="1000"/>
                        <a:t>와도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Vorticity)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29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컬러 스케일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9.1e+00 ~ 1.5e+01 (</a:t>
                      </a:r>
                      <a:r>
                        <a:rPr lang="ko-KR" altLang="en-US" sz="1000" dirty="0"/>
                        <a:t>비정상 압력 분포 범위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392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277977-9013-ED04-D2F5-2EA2736B8EA1}"/>
              </a:ext>
            </a:extLst>
          </p:cNvPr>
          <p:cNvSpPr txBox="1"/>
          <p:nvPr/>
        </p:nvSpPr>
        <p:spPr>
          <a:xfrm>
            <a:off x="69486" y="1149174"/>
            <a:ext cx="6153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/>
              <a:t>Simulation Setup</a:t>
            </a:r>
            <a:endParaRPr lang="ko-KR" altLang="en-US" sz="1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853481-B892-B513-A0A5-E6255D2D9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074590"/>
              </p:ext>
            </p:extLst>
          </p:nvPr>
        </p:nvGraphicFramePr>
        <p:xfrm>
          <a:off x="170860" y="3672619"/>
          <a:ext cx="6051776" cy="2286000"/>
        </p:xfrm>
        <a:graphic>
          <a:graphicData uri="http://schemas.openxmlformats.org/drawingml/2006/table">
            <a:tbl>
              <a:tblPr/>
              <a:tblGrid>
                <a:gridCol w="1128292">
                  <a:extLst>
                    <a:ext uri="{9D8B030D-6E8A-4147-A177-3AD203B41FA5}">
                      <a16:colId xmlns:a16="http://schemas.microsoft.com/office/drawing/2014/main" val="47270809"/>
                    </a:ext>
                  </a:extLst>
                </a:gridCol>
                <a:gridCol w="2446639">
                  <a:extLst>
                    <a:ext uri="{9D8B030D-6E8A-4147-A177-3AD203B41FA5}">
                      <a16:colId xmlns:a16="http://schemas.microsoft.com/office/drawing/2014/main" val="1182303272"/>
                    </a:ext>
                  </a:extLst>
                </a:gridCol>
                <a:gridCol w="2476845">
                  <a:extLst>
                    <a:ext uri="{9D8B030D-6E8A-4147-A177-3AD203B41FA5}">
                      <a16:colId xmlns:a16="http://schemas.microsoft.com/office/drawing/2014/main" val="25847399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관찰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70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Pitching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에어포일이</a:t>
                      </a:r>
                      <a:r>
                        <a:rPr lang="ko-KR" altLang="en-US" sz="1000" b="0" dirty="0"/>
                        <a:t> 일정 각도로 회전하면서</a:t>
                      </a:r>
                      <a:r>
                        <a:rPr lang="en-US" altLang="ko-KR" sz="1000" b="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b="0" dirty="0"/>
                        <a:t>상면에서 박리 발생 시작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받음각</a:t>
                      </a:r>
                      <a:r>
                        <a:rPr lang="ko-KR" altLang="en-US" sz="1000" b="0" dirty="0"/>
                        <a:t> 증가에 따라 압력 </a:t>
                      </a:r>
                      <a:r>
                        <a:rPr lang="ko-KR" altLang="en-US" sz="1000" b="0" dirty="0" err="1"/>
                        <a:t>구배가</a:t>
                      </a:r>
                      <a:r>
                        <a:rPr lang="ko-KR" altLang="en-US" sz="1000" b="0" dirty="0"/>
                        <a:t> </a:t>
                      </a:r>
                      <a:endParaRPr lang="en-US" altLang="ko-KR" sz="1000" b="0" dirty="0"/>
                    </a:p>
                    <a:p>
                      <a:pPr>
                        <a:buNone/>
                      </a:pPr>
                      <a:r>
                        <a:rPr lang="ko-KR" altLang="en-US" sz="1000" b="0" dirty="0"/>
                        <a:t>커지고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상부 표면에서 와류가 분리</a:t>
                      </a:r>
                      <a:r>
                        <a:rPr lang="en-US" altLang="ko-KR" sz="1000" b="0" dirty="0"/>
                        <a:t>(Separation bubble)</a:t>
                      </a:r>
                      <a:r>
                        <a:rPr lang="ko-KR" altLang="en-US" sz="1000" b="0" dirty="0"/>
                        <a:t> 되어 형성됨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546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Plunging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에어포일이</a:t>
                      </a:r>
                      <a:r>
                        <a:rPr lang="ko-KR" altLang="en-US" sz="1000" b="0" dirty="0"/>
                        <a:t> 위아래로 왕복하며 주변</a:t>
                      </a:r>
                      <a:endParaRPr lang="en-US" altLang="ko-KR" sz="1000" b="0" dirty="0"/>
                    </a:p>
                    <a:p>
                      <a:pPr>
                        <a:buNone/>
                      </a:pPr>
                      <a:r>
                        <a:rPr lang="ko-KR" altLang="en-US" sz="1000" b="0" dirty="0"/>
                        <a:t>유동의 동적 변화를 유발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비정상 운동으로 인해 </a:t>
                      </a:r>
                      <a:r>
                        <a:rPr lang="ko-KR" altLang="en-US" sz="1000" b="0" dirty="0" err="1"/>
                        <a:t>동압력</a:t>
                      </a:r>
                      <a:r>
                        <a:rPr lang="ko-KR" altLang="en-US" sz="1000" b="0" dirty="0"/>
                        <a:t> 변화가 주기적으로 발생하고</a:t>
                      </a:r>
                      <a:r>
                        <a:rPr lang="en-US" altLang="ko-KR" sz="1000" b="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b="0" dirty="0"/>
                        <a:t>wake </a:t>
                      </a:r>
                      <a:r>
                        <a:rPr lang="ko-KR" altLang="en-US" sz="1000" b="0" dirty="0"/>
                        <a:t>구조가 주기적으로 형성됨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7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Pitch + Plunge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두 운동이 동시에 작용하여 </a:t>
                      </a:r>
                      <a:endParaRPr lang="en-US" altLang="ko-KR" sz="1000" b="0" dirty="0"/>
                    </a:p>
                    <a:p>
                      <a:pPr>
                        <a:buNone/>
                      </a:pPr>
                      <a:r>
                        <a:rPr lang="en-US" altLang="ko-KR" sz="1000" b="0" dirty="0"/>
                        <a:t>wake </a:t>
                      </a:r>
                      <a:r>
                        <a:rPr lang="ko-KR" altLang="en-US" sz="1000" b="0" dirty="0"/>
                        <a:t>형상이 불규칙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피칭 시 발생한 박리 와류가 </a:t>
                      </a:r>
                      <a:r>
                        <a:rPr lang="ko-KR" altLang="en-US" sz="1000" b="0" dirty="0" err="1"/>
                        <a:t>플랜징</a:t>
                      </a:r>
                      <a:r>
                        <a:rPr lang="ko-KR" altLang="en-US" sz="1000" b="0" dirty="0"/>
                        <a:t> 운동에 의해 주기적으로 증폭 </a:t>
                      </a:r>
                      <a:endParaRPr lang="en-US" altLang="ko-KR" sz="1000" b="0" dirty="0"/>
                    </a:p>
                    <a:p>
                      <a:pPr>
                        <a:buNone/>
                      </a:pPr>
                      <a:r>
                        <a:rPr lang="ko-KR" altLang="en-US" sz="1000" b="0" dirty="0"/>
                        <a:t>→ 버핏</a:t>
                      </a:r>
                      <a:r>
                        <a:rPr lang="en-US" altLang="ko-KR" sz="1000" b="0" dirty="0"/>
                        <a:t>(Buffet) </a:t>
                      </a:r>
                      <a:r>
                        <a:rPr lang="ko-KR" altLang="en-US" sz="1000" b="0" dirty="0"/>
                        <a:t>진동 형태로 발전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97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컬러맵</a:t>
                      </a:r>
                      <a:r>
                        <a:rPr lang="ko-KR" altLang="en-US" sz="1000" b="0" dirty="0"/>
                        <a:t> 분석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고압</a:t>
                      </a:r>
                      <a:r>
                        <a:rPr lang="en-US" altLang="ko-KR" sz="1000" b="0" dirty="0"/>
                        <a:t>(red) </a:t>
                      </a:r>
                      <a:r>
                        <a:rPr lang="ko-KR" altLang="en-US" sz="1000" b="0" dirty="0"/>
                        <a:t>영역은 </a:t>
                      </a:r>
                      <a:r>
                        <a:rPr lang="ko-KR" altLang="en-US" sz="1000" b="0" dirty="0" err="1"/>
                        <a:t>에어포일</a:t>
                      </a:r>
                      <a:r>
                        <a:rPr lang="ko-KR" altLang="en-US" sz="1000" b="0" dirty="0"/>
                        <a:t> 하부</a:t>
                      </a:r>
                      <a:r>
                        <a:rPr lang="en-US" altLang="ko-KR" sz="1000" b="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b="0" dirty="0"/>
                        <a:t>저압</a:t>
                      </a:r>
                      <a:r>
                        <a:rPr lang="en-US" altLang="ko-KR" sz="1000" b="0" dirty="0"/>
                        <a:t>(blue) </a:t>
                      </a:r>
                      <a:r>
                        <a:rPr lang="ko-KR" altLang="en-US" sz="1000" b="0" dirty="0"/>
                        <a:t>영역은 상부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시간에 따라 저압 영역이 진동하며 변동 → </a:t>
                      </a:r>
                      <a:r>
                        <a:rPr lang="en-US" altLang="ko-KR" sz="1000" b="0" dirty="0"/>
                        <a:t>lift </a:t>
                      </a:r>
                      <a:r>
                        <a:rPr lang="ko-KR" altLang="en-US" sz="1000" b="0" dirty="0"/>
                        <a:t>변동과 연계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6244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8022E0-6B09-2552-310B-3060080119EE}"/>
              </a:ext>
            </a:extLst>
          </p:cNvPr>
          <p:cNvSpPr txBox="1"/>
          <p:nvPr/>
        </p:nvSpPr>
        <p:spPr>
          <a:xfrm>
            <a:off x="0" y="3364842"/>
            <a:ext cx="6153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/>
              <a:t>Results &amp; Discussion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0E7D3-58AE-DC44-54C0-163B8DCE66D6}"/>
              </a:ext>
            </a:extLst>
          </p:cNvPr>
          <p:cNvSpPr txBox="1"/>
          <p:nvPr/>
        </p:nvSpPr>
        <p:spPr>
          <a:xfrm>
            <a:off x="6096000" y="715962"/>
            <a:ext cx="5724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/>
              <a:t>Conclusion</a:t>
            </a:r>
            <a:endParaRPr lang="ko-KR" altLang="en-US" sz="14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7F2CAF7-6301-8B16-0B4B-0DCABBDA25BB}"/>
              </a:ext>
            </a:extLst>
          </p:cNvPr>
          <p:cNvGrpSpPr/>
          <p:nvPr/>
        </p:nvGrpSpPr>
        <p:grpSpPr>
          <a:xfrm>
            <a:off x="6096000" y="1129434"/>
            <a:ext cx="5876926" cy="3186297"/>
            <a:chOff x="6096000" y="1129434"/>
            <a:chExt cx="5876926" cy="3186297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2A76A564-A408-82A3-5C9A-F5466D527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1129434"/>
              <a:ext cx="5319085" cy="16796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피칭만 적용 시: 박리와 재부착이 주기적으로 반복되며 전형적인 </a:t>
              </a:r>
              <a:r>
                <a:rPr kumimoji="0" lang="ko-KR" altLang="ko-KR" sz="10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unsteady</a:t>
              </a: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sz="10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separation</a:t>
              </a: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발생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플랜징만 적용 시: 유동 자체의 운동으로 인해 </a:t>
              </a:r>
              <a:r>
                <a:rPr kumimoji="0" lang="ko-KR" altLang="ko-KR" sz="10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wake</a:t>
              </a: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sz="10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스트럭처가</a:t>
              </a: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대칭적으로 반복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동시 적용 시:</a:t>
              </a:r>
            </a:p>
            <a:p>
              <a:pPr marL="266700" marR="0" lvl="0" indent="-85725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두 현상이 공진하듯 서로 영향을 주어 진동폭이 증대</a:t>
              </a:r>
            </a:p>
            <a:p>
              <a:pPr marL="266700" marR="0" lvl="0" indent="-85725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와류가 비대칭적으로 형성되어 비선형적 압력 변동 발생</a:t>
              </a:r>
            </a:p>
            <a:p>
              <a:pPr marL="266700" marR="0" lvl="0" indent="-85725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>
                  <a:tab pos="5648325" algn="l"/>
                </a:tabLst>
              </a:pP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실제 공기역학적 버핏 현상(</a:t>
              </a:r>
              <a:r>
                <a:rPr kumimoji="0" lang="ko-KR" altLang="ko-KR" sz="10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buffeting</a:t>
              </a:r>
              <a:r>
                <a:rPr kumimoji="0" lang="ko-KR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) 을 모사함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902D95-BF2E-E478-BE9A-E017E3C1C753}"/>
                </a:ext>
              </a:extLst>
            </p:cNvPr>
            <p:cNvSpPr txBox="1"/>
            <p:nvPr/>
          </p:nvSpPr>
          <p:spPr>
            <a:xfrm>
              <a:off x="6096000" y="2637323"/>
              <a:ext cx="5876926" cy="16784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/>
                <a:t>피칭과 </a:t>
              </a:r>
              <a:r>
                <a:rPr lang="ko-KR" altLang="en-US" sz="1000" dirty="0" err="1"/>
                <a:t>플랜징</a:t>
              </a:r>
              <a:r>
                <a:rPr lang="ko-KR" altLang="en-US" sz="1000" dirty="0"/>
                <a:t> 운동을 동시에 고려한 본 </a:t>
              </a:r>
              <a:r>
                <a:rPr lang="en-US" altLang="ko-KR" sz="1000" dirty="0"/>
                <a:t>CFD </a:t>
              </a:r>
              <a:r>
                <a:rPr lang="ko-KR" altLang="en-US" sz="1000" dirty="0"/>
                <a:t>시뮬레이션은</a:t>
              </a:r>
              <a:br>
                <a:rPr lang="ko-KR" altLang="en-US" sz="1000" dirty="0"/>
              </a:br>
              <a:r>
                <a:rPr lang="ko-KR" altLang="en-US" sz="1000" dirty="0" err="1"/>
                <a:t>에어포일의</a:t>
              </a:r>
              <a:r>
                <a:rPr lang="ko-KR" altLang="en-US" sz="1000" dirty="0"/>
                <a:t> 비정상 압력 분포와 박리 와류 형성 과정을 성공적으로 재현하였다</a:t>
              </a:r>
              <a:r>
                <a:rPr lang="en-US" altLang="ko-KR" sz="1000" dirty="0"/>
                <a:t>.</a:t>
              </a:r>
              <a:br>
                <a:rPr lang="en-US" altLang="ko-KR" sz="1000" dirty="0"/>
              </a:br>
              <a:endParaRPr lang="en-US" altLang="ko-KR" sz="10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/>
                <a:t>이를 통해 다음을 확인할 수 있다</a:t>
              </a:r>
              <a:r>
                <a:rPr lang="en-US" altLang="ko-KR" sz="1000" dirty="0"/>
                <a:t>:</a:t>
              </a:r>
            </a:p>
            <a:p>
              <a:pPr marL="180975" indent="85725">
                <a:lnSpc>
                  <a:spcPct val="150000"/>
                </a:lnSpc>
                <a:buFont typeface="+mj-lt"/>
                <a:buAutoNum type="arabicPeriod"/>
              </a:pPr>
              <a:r>
                <a:rPr lang="ko-KR" altLang="en-US" sz="1000" dirty="0"/>
                <a:t>피칭 단독 운동은 </a:t>
              </a:r>
              <a:r>
                <a:rPr lang="ko-KR" altLang="en-US" sz="1000" dirty="0" err="1"/>
                <a:t>받음각</a:t>
              </a:r>
              <a:r>
                <a:rPr lang="ko-KR" altLang="en-US" sz="1000" dirty="0"/>
                <a:t> 변화에 따른 박리 시작점 이동을 설명한다</a:t>
              </a:r>
              <a:r>
                <a:rPr lang="en-US" altLang="ko-KR" sz="1000" dirty="0"/>
                <a:t>.</a:t>
              </a:r>
            </a:p>
            <a:p>
              <a:pPr marL="180975" indent="85725">
                <a:lnSpc>
                  <a:spcPct val="150000"/>
                </a:lnSpc>
                <a:buFont typeface="+mj-lt"/>
                <a:buAutoNum type="arabicPeriod"/>
              </a:pPr>
              <a:r>
                <a:rPr lang="ko-KR" altLang="en-US" sz="1000" dirty="0" err="1"/>
                <a:t>플랜징</a:t>
              </a:r>
              <a:r>
                <a:rPr lang="ko-KR" altLang="en-US" sz="1000" dirty="0"/>
                <a:t> 단독 운동은 </a:t>
              </a:r>
              <a:r>
                <a:rPr lang="ko-KR" altLang="en-US" sz="1000" dirty="0" err="1"/>
                <a:t>동압력</a:t>
              </a:r>
              <a:r>
                <a:rPr lang="ko-KR" altLang="en-US" sz="1000" dirty="0"/>
                <a:t> 변동에 따른 전체 유동장의 진동 특성을 나타낸다</a:t>
              </a:r>
              <a:r>
                <a:rPr lang="en-US" altLang="ko-KR" sz="1000" dirty="0"/>
                <a:t>.</a:t>
              </a:r>
            </a:p>
            <a:p>
              <a:pPr marL="180975" indent="85725">
                <a:lnSpc>
                  <a:spcPct val="150000"/>
                </a:lnSpc>
                <a:buFont typeface="+mj-lt"/>
                <a:buAutoNum type="arabicPeriod"/>
              </a:pPr>
              <a:r>
                <a:rPr lang="ko-KR" altLang="en-US" sz="1000" dirty="0"/>
                <a:t>복합 운동 시 두 효과가 중첩되어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와류의 </a:t>
              </a:r>
              <a:r>
                <a:rPr lang="ko-KR" altLang="en-US" sz="1000" dirty="0" err="1"/>
                <a:t>공진적</a:t>
              </a:r>
              <a:r>
                <a:rPr lang="ko-KR" altLang="en-US" sz="1000" dirty="0"/>
                <a:t> 증폭 → 버핏 발생 메커니즘을 확인할 수 있다</a:t>
              </a:r>
              <a:r>
                <a:rPr lang="en-US" altLang="ko-KR" sz="1000" dirty="0"/>
                <a:t>.</a:t>
              </a: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5E17A80-7D4F-AF6B-9CD4-8C6F9C3702D2}"/>
              </a:ext>
            </a:extLst>
          </p:cNvPr>
          <p:cNvCxnSpPr>
            <a:cxnSpLocks/>
          </p:cNvCxnSpPr>
          <p:nvPr/>
        </p:nvCxnSpPr>
        <p:spPr>
          <a:xfrm>
            <a:off x="0" y="1456951"/>
            <a:ext cx="5934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0C41AAF-4AD4-ACAB-74A7-E16404AFE669}"/>
              </a:ext>
            </a:extLst>
          </p:cNvPr>
          <p:cNvCxnSpPr>
            <a:cxnSpLocks/>
          </p:cNvCxnSpPr>
          <p:nvPr/>
        </p:nvCxnSpPr>
        <p:spPr>
          <a:xfrm>
            <a:off x="0" y="3653195"/>
            <a:ext cx="56959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13900E6-A2C3-E494-0A27-65077D7DBF70}"/>
              </a:ext>
            </a:extLst>
          </p:cNvPr>
          <p:cNvCxnSpPr>
            <a:cxnSpLocks/>
          </p:cNvCxnSpPr>
          <p:nvPr/>
        </p:nvCxnSpPr>
        <p:spPr>
          <a:xfrm>
            <a:off x="6096000" y="1094002"/>
            <a:ext cx="609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5E314F-AE8B-28EA-7F91-345D93DAAA41}"/>
              </a:ext>
            </a:extLst>
          </p:cNvPr>
          <p:cNvSpPr txBox="1"/>
          <p:nvPr/>
        </p:nvSpPr>
        <p:spPr>
          <a:xfrm>
            <a:off x="9401175" y="4352381"/>
            <a:ext cx="2790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*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Chat GPT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90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F91B-35DA-3121-9351-AF9AA6CF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A9BAA8-98B3-A899-F2AA-A07FB19A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격자 조건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DADD8-A54A-D59D-09DD-AE3EE31F65CD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격자 조건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8B2F3-0EF3-F5B6-62FA-C71E506C0093}"/>
              </a:ext>
            </a:extLst>
          </p:cNvPr>
          <p:cNvSpPr txBox="1"/>
          <p:nvPr/>
        </p:nvSpPr>
        <p:spPr>
          <a:xfrm>
            <a:off x="149882" y="1045809"/>
            <a:ext cx="6803265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예제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에서는 다음과 같은 해석 격자 조건을 적용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 name: mesh_caradonna_tung.su2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Mesh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NDIME =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NELEM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326085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COMPRESSIBLE AND INCOMPRESSIBLE FREE-STREAM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MACH_NUMBER=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AOA=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SIDESLIP_ANGLE=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FREESTREAM_PRESSURE= 101325.0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FREESTREAM_TEMPERATURE= 288.15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DYNAMIC MESH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GRID_MOVEMENT= ROTATING_FRAME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MACH_MOTION= 0.877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MOTION_ORIGIN= 0.0 0.0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ROTATION_RATE = 261.79938779914943 0.0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MULTIGRID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MGLEVEL=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MGCYCLE= W_CYCLE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MG_PRE_SMOOTH= ( 1, 2, 3, 3 )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MG_POST_SMOOTH=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MG_CORRECTION_SMOOTH=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MG_DAMP_RESTRICTION= 0.9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MG_DAMP_PROLONGATION= 0.9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41E16B-A4BF-4F33-20DE-6DF87EDD4917}"/>
              </a:ext>
            </a:extLst>
          </p:cNvPr>
          <p:cNvGrpSpPr/>
          <p:nvPr/>
        </p:nvGrpSpPr>
        <p:grpSpPr>
          <a:xfrm>
            <a:off x="9521921" y="1542985"/>
            <a:ext cx="2520197" cy="1974801"/>
            <a:chOff x="9521921" y="1542985"/>
            <a:chExt cx="2520197" cy="197480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8BCD44A-2866-4D93-2F28-16F1759912EC}"/>
                </a:ext>
              </a:extLst>
            </p:cNvPr>
            <p:cNvGrpSpPr/>
            <p:nvPr/>
          </p:nvGrpSpPr>
          <p:grpSpPr>
            <a:xfrm>
              <a:off x="9521921" y="1542985"/>
              <a:ext cx="2413494" cy="1974801"/>
              <a:chOff x="9521921" y="1542985"/>
              <a:chExt cx="2413494" cy="1974801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7CC0638C-652A-C5D6-EDAF-1AC9468AA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521921" y="1542985"/>
                <a:ext cx="2221165" cy="1619371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06D6F2-65C9-ECDB-967D-DB4C6BF11729}"/>
                  </a:ext>
                </a:extLst>
              </p:cNvPr>
              <p:cNvSpPr txBox="1"/>
              <p:nvPr/>
            </p:nvSpPr>
            <p:spPr>
              <a:xfrm>
                <a:off x="10322352" y="3286953"/>
                <a:ext cx="1613063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Fig. 3 </a:t>
                </a:r>
                <a:r>
                  <a:rPr lang="ko-KR" altLang="en-US" sz="900" dirty="0"/>
                  <a:t>해석 결과 </a:t>
                </a:r>
                <a:r>
                  <a:rPr lang="en-US" altLang="ko-KR" sz="900" dirty="0"/>
                  <a:t>[wireframe]</a:t>
                </a:r>
                <a:endParaRPr lang="ko-KR" altLang="en-US" sz="900" dirty="0"/>
              </a:p>
            </p:txBody>
          </p:sp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89F1DD4-F2CD-E968-FB25-AFEE9BD33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727821" y="2648567"/>
              <a:ext cx="314297" cy="567222"/>
            </a:xfrm>
            <a:prstGeom prst="rect">
              <a:avLst/>
            </a:prstGeom>
          </p:spPr>
        </p:pic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EA45DDE-5657-BDAF-4708-71A2D07EB9CD}"/>
              </a:ext>
            </a:extLst>
          </p:cNvPr>
          <p:cNvSpPr/>
          <p:nvPr/>
        </p:nvSpPr>
        <p:spPr>
          <a:xfrm>
            <a:off x="10322352" y="2057038"/>
            <a:ext cx="666376" cy="449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A6D4EF-2C04-E2C4-7403-96C264E03145}"/>
              </a:ext>
            </a:extLst>
          </p:cNvPr>
          <p:cNvSpPr txBox="1"/>
          <p:nvPr/>
        </p:nvSpPr>
        <p:spPr>
          <a:xfrm>
            <a:off x="10152667" y="5077550"/>
            <a:ext cx="190911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4 </a:t>
            </a:r>
            <a:r>
              <a:rPr lang="ko-KR" altLang="en-US" sz="900" dirty="0"/>
              <a:t>해석 결과 확대 </a:t>
            </a:r>
            <a:r>
              <a:rPr lang="en-US" altLang="ko-KR" sz="900" dirty="0"/>
              <a:t>[wireframe] </a:t>
            </a:r>
            <a:endParaRPr lang="ko-KR" altLang="en-US" sz="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49B620-F9E2-DFFF-0A9A-790F7EDFF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747" y="3779773"/>
            <a:ext cx="2639033" cy="1178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AFDBF0-C0EC-3952-15A9-D0AA508F8634}"/>
              </a:ext>
            </a:extLst>
          </p:cNvPr>
          <p:cNvSpPr txBox="1"/>
          <p:nvPr/>
        </p:nvSpPr>
        <p:spPr>
          <a:xfrm>
            <a:off x="3551514" y="2809066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MACH=0 </a:t>
            </a:r>
            <a:r>
              <a:rPr lang="ko-KR" altLang="en-US" sz="1000" dirty="0">
                <a:solidFill>
                  <a:srgbClr val="92D050"/>
                </a:solidFill>
              </a:rPr>
              <a:t>은 제자리 비행을 뜻한다</a:t>
            </a:r>
            <a:r>
              <a:rPr lang="en-US" altLang="ko-KR" sz="1000" dirty="0">
                <a:solidFill>
                  <a:srgbClr val="92D050"/>
                </a:solidFill>
              </a:rPr>
              <a:t>. (AOA</a:t>
            </a:r>
            <a:r>
              <a:rPr lang="ko-KR" altLang="en-US" sz="1000" dirty="0">
                <a:solidFill>
                  <a:srgbClr val="92D050"/>
                </a:solidFill>
              </a:rPr>
              <a:t>도 마찬가지</a:t>
            </a:r>
            <a:r>
              <a:rPr lang="en-US" altLang="ko-KR" sz="1000" dirty="0">
                <a:solidFill>
                  <a:srgbClr val="92D050"/>
                </a:solidFill>
              </a:rPr>
              <a:t>)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861BA-0D89-A2AE-8170-DA1CFD6B85D2}"/>
              </a:ext>
            </a:extLst>
          </p:cNvPr>
          <p:cNvSpPr txBox="1"/>
          <p:nvPr/>
        </p:nvSpPr>
        <p:spPr>
          <a:xfrm>
            <a:off x="3566367" y="3477351"/>
            <a:ext cx="3849411" cy="400110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92D050"/>
                </a:solidFill>
              </a:rPr>
              <a:t>호버링일때는</a:t>
            </a:r>
            <a:r>
              <a:rPr lang="ko-KR" altLang="en-US" sz="1000" dirty="0">
                <a:solidFill>
                  <a:srgbClr val="92D050"/>
                </a:solidFill>
              </a:rPr>
              <a:t> </a:t>
            </a:r>
            <a:r>
              <a:rPr lang="ko-KR" altLang="en-US" sz="1000" dirty="0" err="1">
                <a:solidFill>
                  <a:srgbClr val="92D050"/>
                </a:solidFill>
              </a:rPr>
              <a:t>로터블레이드는</a:t>
            </a:r>
            <a:r>
              <a:rPr lang="ko-KR" altLang="en-US" sz="1000" dirty="0">
                <a:solidFill>
                  <a:srgbClr val="92D050"/>
                </a:solidFill>
              </a:rPr>
              <a:t> 가만히 있고</a:t>
            </a:r>
            <a:r>
              <a:rPr lang="en-US" altLang="ko-KR" sz="1000" dirty="0">
                <a:solidFill>
                  <a:srgbClr val="92D050"/>
                </a:solidFill>
              </a:rPr>
              <a:t>, </a:t>
            </a:r>
            <a:r>
              <a:rPr lang="ko-KR" altLang="en-US" sz="1000" dirty="0">
                <a:solidFill>
                  <a:srgbClr val="92D050"/>
                </a:solidFill>
              </a:rPr>
              <a:t>공기만 돌려도 된다</a:t>
            </a:r>
            <a:r>
              <a:rPr lang="en-US" altLang="ko-KR" sz="1000" dirty="0">
                <a:solidFill>
                  <a:srgbClr val="92D050"/>
                </a:solidFill>
              </a:rPr>
              <a:t>. (Frame</a:t>
            </a:r>
            <a:r>
              <a:rPr lang="ko-KR" altLang="en-US" sz="1000" dirty="0">
                <a:solidFill>
                  <a:srgbClr val="92D050"/>
                </a:solidFill>
              </a:rPr>
              <a:t>을 </a:t>
            </a:r>
            <a:r>
              <a:rPr lang="ko-KR" altLang="en-US" sz="1000" dirty="0" err="1">
                <a:solidFill>
                  <a:srgbClr val="92D050"/>
                </a:solidFill>
              </a:rPr>
              <a:t>돌리는게</a:t>
            </a:r>
            <a:r>
              <a:rPr lang="ko-KR" altLang="en-US" sz="1000" dirty="0">
                <a:solidFill>
                  <a:srgbClr val="92D050"/>
                </a:solidFill>
              </a:rPr>
              <a:t> 공기만 </a:t>
            </a:r>
            <a:r>
              <a:rPr lang="ko-KR" altLang="en-US" sz="1000" dirty="0" err="1">
                <a:solidFill>
                  <a:srgbClr val="92D050"/>
                </a:solidFill>
              </a:rPr>
              <a:t>돌아감</a:t>
            </a:r>
            <a:r>
              <a:rPr lang="en-US" altLang="ko-KR" sz="1000" dirty="0">
                <a:solidFill>
                  <a:srgbClr val="92D050"/>
                </a:solidFill>
              </a:rPr>
              <a:t>)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5668B-A371-8517-E246-7AD736994C36}"/>
              </a:ext>
            </a:extLst>
          </p:cNvPr>
          <p:cNvSpPr txBox="1"/>
          <p:nvPr/>
        </p:nvSpPr>
        <p:spPr>
          <a:xfrm>
            <a:off x="3565057" y="4245680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92D050"/>
                </a:solidFill>
              </a:rPr>
              <a:t>돌아가는 축이 아닌 회전 축을 기준으로 적용한다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A27B49-3F4A-CE44-890A-48B6B2A4D9E3}"/>
              </a:ext>
            </a:extLst>
          </p:cNvPr>
          <p:cNvSpPr txBox="1"/>
          <p:nvPr/>
        </p:nvSpPr>
        <p:spPr>
          <a:xfrm>
            <a:off x="3551513" y="3922515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# UH-60</a:t>
            </a:r>
            <a:r>
              <a:rPr lang="ko-KR" altLang="en-US" sz="1000" dirty="0">
                <a:solidFill>
                  <a:srgbClr val="92D050"/>
                </a:solidFill>
              </a:rPr>
              <a:t>이 </a:t>
            </a:r>
            <a:r>
              <a:rPr lang="en-US" altLang="ko-KR" sz="1000" dirty="0">
                <a:solidFill>
                  <a:srgbClr val="92D050"/>
                </a:solidFill>
              </a:rPr>
              <a:t>0.877 </a:t>
            </a:r>
            <a:r>
              <a:rPr lang="ko-KR" altLang="en-US" sz="1000" dirty="0">
                <a:solidFill>
                  <a:srgbClr val="92D050"/>
                </a:solidFill>
              </a:rPr>
              <a:t>이어서 그 숫자를 사용했다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D1A9FC-1651-6036-1DBC-2D9A3A71D06E}"/>
              </a:ext>
            </a:extLst>
          </p:cNvPr>
          <p:cNvCxnSpPr>
            <a:endCxn id="6" idx="1"/>
          </p:cNvCxnSpPr>
          <p:nvPr/>
        </p:nvCxnSpPr>
        <p:spPr>
          <a:xfrm>
            <a:off x="1895475" y="2809066"/>
            <a:ext cx="1656038" cy="123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4284E46-5692-00AD-6EC9-1EB19AF525F8}"/>
              </a:ext>
            </a:extLst>
          </p:cNvPr>
          <p:cNvCxnSpPr/>
          <p:nvPr/>
        </p:nvCxnSpPr>
        <p:spPr>
          <a:xfrm flipV="1">
            <a:off x="2838450" y="3677406"/>
            <a:ext cx="713063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8D474C4-A158-A321-3D1B-D276C353B005}"/>
              </a:ext>
            </a:extLst>
          </p:cNvPr>
          <p:cNvCxnSpPr/>
          <p:nvPr/>
        </p:nvCxnSpPr>
        <p:spPr>
          <a:xfrm>
            <a:off x="1895475" y="4045625"/>
            <a:ext cx="1571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B463E8-9C36-9764-5346-33A305521244}"/>
              </a:ext>
            </a:extLst>
          </p:cNvPr>
          <p:cNvCxnSpPr/>
          <p:nvPr/>
        </p:nvCxnSpPr>
        <p:spPr>
          <a:xfrm>
            <a:off x="3371850" y="4368790"/>
            <a:ext cx="179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CBF3E0-C1EA-B2C9-6D0C-45797A512652}"/>
              </a:ext>
            </a:extLst>
          </p:cNvPr>
          <p:cNvSpPr txBox="1"/>
          <p:nvPr/>
        </p:nvSpPr>
        <p:spPr>
          <a:xfrm>
            <a:off x="3641257" y="4851298"/>
            <a:ext cx="4321643" cy="861774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MGCYCLE</a:t>
            </a:r>
            <a:r>
              <a:rPr lang="ko-KR" altLang="en-US" sz="1000" dirty="0">
                <a:solidFill>
                  <a:srgbClr val="92D050"/>
                </a:solidFill>
              </a:rPr>
              <a:t>은 </a:t>
            </a:r>
            <a:r>
              <a:rPr lang="en-US" altLang="ko-KR" sz="1000" dirty="0">
                <a:solidFill>
                  <a:srgbClr val="92D050"/>
                </a:solidFill>
              </a:rPr>
              <a:t>V </a:t>
            </a:r>
            <a:r>
              <a:rPr lang="ko-KR" altLang="en-US" sz="1000" dirty="0">
                <a:solidFill>
                  <a:srgbClr val="92D050"/>
                </a:solidFill>
              </a:rPr>
              <a:t>또는 </a:t>
            </a:r>
            <a:r>
              <a:rPr lang="en-US" altLang="ko-KR" sz="1000" dirty="0">
                <a:solidFill>
                  <a:srgbClr val="92D050"/>
                </a:solidFill>
              </a:rPr>
              <a:t>W</a:t>
            </a:r>
            <a:r>
              <a:rPr lang="ko-KR" altLang="en-US" sz="1000" dirty="0">
                <a:solidFill>
                  <a:srgbClr val="92D050"/>
                </a:solidFill>
              </a:rPr>
              <a:t>를 씀</a:t>
            </a:r>
            <a:r>
              <a:rPr lang="en-US" altLang="ko-KR" sz="1000" dirty="0">
                <a:solidFill>
                  <a:srgbClr val="92D050"/>
                </a:solidFill>
              </a:rPr>
              <a:t>. (</a:t>
            </a:r>
            <a:r>
              <a:rPr lang="ko-KR" altLang="en-US" sz="1000" dirty="0">
                <a:solidFill>
                  <a:srgbClr val="92D050"/>
                </a:solidFill>
              </a:rPr>
              <a:t>격자를 </a:t>
            </a:r>
            <a:r>
              <a:rPr lang="en-US" altLang="ko-KR" sz="1000" dirty="0">
                <a:solidFill>
                  <a:srgbClr val="92D050"/>
                </a:solidFill>
              </a:rPr>
              <a:t>fine </a:t>
            </a:r>
            <a:r>
              <a:rPr lang="ko-KR" altLang="en-US" sz="1000" dirty="0">
                <a:solidFill>
                  <a:srgbClr val="92D050"/>
                </a:solidFill>
              </a:rPr>
              <a:t>하게 쪼개서 다시 합치는 과정</a:t>
            </a:r>
            <a:endParaRPr lang="en-US" altLang="ko-KR" sz="1000" dirty="0">
              <a:solidFill>
                <a:srgbClr val="92D050"/>
              </a:solidFill>
            </a:endParaRPr>
          </a:p>
          <a:p>
            <a:endParaRPr lang="en-US" altLang="ko-KR" sz="1000" dirty="0">
              <a:solidFill>
                <a:srgbClr val="92D050"/>
              </a:solidFill>
            </a:endParaRPr>
          </a:p>
          <a:p>
            <a:r>
              <a:rPr lang="en-US" altLang="ko-KR" sz="1000" dirty="0">
                <a:solidFill>
                  <a:srgbClr val="92D050"/>
                </a:solidFill>
              </a:rPr>
              <a:t>*mesh point</a:t>
            </a:r>
            <a:r>
              <a:rPr lang="ko-KR" altLang="en-US" sz="1000" dirty="0">
                <a:solidFill>
                  <a:srgbClr val="92D050"/>
                </a:solidFill>
              </a:rPr>
              <a:t>를 듬성듬성하게 쪼갰다가 다시 </a:t>
            </a:r>
            <a:r>
              <a:rPr lang="en-US" altLang="ko-KR" sz="1000" dirty="0">
                <a:solidFill>
                  <a:srgbClr val="92D050"/>
                </a:solidFill>
              </a:rPr>
              <a:t>fine</a:t>
            </a:r>
            <a:r>
              <a:rPr lang="ko-KR" altLang="en-US" sz="1000" dirty="0">
                <a:solidFill>
                  <a:srgbClr val="92D050"/>
                </a:solidFill>
              </a:rPr>
              <a:t>하게 풀어 </a:t>
            </a:r>
            <a:r>
              <a:rPr lang="ko-KR" altLang="en-US" sz="1000" dirty="0" err="1">
                <a:solidFill>
                  <a:srgbClr val="92D050"/>
                </a:solidFill>
              </a:rPr>
              <a:t>내는게</a:t>
            </a:r>
            <a:r>
              <a:rPr lang="ko-KR" altLang="en-US" sz="1000" dirty="0">
                <a:solidFill>
                  <a:srgbClr val="92D050"/>
                </a:solidFill>
              </a:rPr>
              <a:t> </a:t>
            </a:r>
            <a:endParaRPr lang="en-US" altLang="ko-KR" sz="1000" dirty="0">
              <a:solidFill>
                <a:srgbClr val="92D050"/>
              </a:solidFill>
            </a:endParaRPr>
          </a:p>
          <a:p>
            <a:r>
              <a:rPr lang="ko-KR" altLang="en-US" sz="1000" dirty="0">
                <a:solidFill>
                  <a:srgbClr val="92D050"/>
                </a:solidFill>
              </a:rPr>
              <a:t>수렴하는 속도가 훨씬 빠르다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  <a:p>
            <a:endParaRPr lang="ko-KR" altLang="en-US" sz="1000" dirty="0">
              <a:solidFill>
                <a:srgbClr val="92D05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C757C28-89BC-7A3E-396B-4B2434529605}"/>
              </a:ext>
            </a:extLst>
          </p:cNvPr>
          <p:cNvCxnSpPr>
            <a:endCxn id="22" idx="1"/>
          </p:cNvCxnSpPr>
          <p:nvPr/>
        </p:nvCxnSpPr>
        <p:spPr>
          <a:xfrm>
            <a:off x="1895475" y="5184044"/>
            <a:ext cx="1745782" cy="9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5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5A14-A423-33ED-5A3B-7E853BA3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EABBB01A-3FB6-AF70-14EB-50D53F1C08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solidFill>
                      <a:srgbClr val="FFFFFF"/>
                    </a:solidFill>
                  </a:rPr>
                  <a:t>1. </a:t>
                </a:r>
                <a:r>
                  <a:rPr lang="ko-KR" altLang="en-US" dirty="0">
                    <a:solidFill>
                      <a:srgbClr val="FFFFFF"/>
                    </a:solidFill>
                  </a:rPr>
                  <a:t>해석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b="1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 altLang="ko-KR"/>
                      <m:t>α</m:t>
                    </m:r>
                  </m:oMath>
                </a14:m>
                <a:r>
                  <a:rPr lang="ko-KR" altLang="en-US" dirty="0">
                    <a:solidFill>
                      <a:srgbClr val="FFFFFF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FFFF"/>
                    </a:solidFill>
                  </a:rPr>
                  <a:t>curve</a:t>
                </a:r>
                <a:endParaRPr lang="ko-KR" alt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EC34E28B-2EC4-3850-FF0E-3F985180B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66" b="-16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C5CE93-BEC2-6C8D-8759-A63ACBFD9154}"/>
              </a:ext>
            </a:extLst>
          </p:cNvPr>
          <p:cNvSpPr txBox="1"/>
          <p:nvPr/>
        </p:nvSpPr>
        <p:spPr>
          <a:xfrm>
            <a:off x="342310" y="673178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분석</a:t>
            </a:r>
            <a:endParaRPr lang="en-US" sz="20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59AF0A8-31B5-43FD-0F65-9F4C4C31EC4F}"/>
              </a:ext>
            </a:extLst>
          </p:cNvPr>
          <p:cNvGrpSpPr/>
          <p:nvPr/>
        </p:nvGrpSpPr>
        <p:grpSpPr>
          <a:xfrm>
            <a:off x="9213734" y="1584502"/>
            <a:ext cx="2266038" cy="2355417"/>
            <a:chOff x="333375" y="1362075"/>
            <a:chExt cx="2266038" cy="2355417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AF7DAB5-8532-0561-B7EE-D0CFEE9AAF37}"/>
                </a:ext>
              </a:extLst>
            </p:cNvPr>
            <p:cNvGrpSpPr/>
            <p:nvPr/>
          </p:nvGrpSpPr>
          <p:grpSpPr>
            <a:xfrm>
              <a:off x="333375" y="1362075"/>
              <a:ext cx="2266037" cy="2066925"/>
              <a:chOff x="333375" y="1362075"/>
              <a:chExt cx="2266037" cy="2066925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DE98E793-453F-56CB-D449-6B0E984CD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1695" t="9316" r="36949" b="21496"/>
              <a:stretch>
                <a:fillRect/>
              </a:stretch>
            </p:blipFill>
            <p:spPr>
              <a:xfrm>
                <a:off x="333375" y="1362075"/>
                <a:ext cx="1762126" cy="2066925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45DF8D20-1FDD-1847-1775-5AFBE1D012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90781" t="61022"/>
              <a:stretch>
                <a:fillRect/>
              </a:stretch>
            </p:blipFill>
            <p:spPr>
              <a:xfrm>
                <a:off x="2276475" y="2703159"/>
                <a:ext cx="322937" cy="725841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D864FC-9BCC-F568-9C37-9420764D11D3}"/>
                </a:ext>
              </a:extLst>
            </p:cNvPr>
            <p:cNvSpPr txBox="1"/>
            <p:nvPr/>
          </p:nvSpPr>
          <p:spPr>
            <a:xfrm>
              <a:off x="837287" y="3486660"/>
              <a:ext cx="17621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5 </a:t>
              </a:r>
              <a:r>
                <a:rPr lang="ko-KR" altLang="en-US" sz="900" dirty="0"/>
                <a:t>해석 결과 </a:t>
              </a:r>
              <a:r>
                <a:rPr lang="en-US" altLang="ko-KR" sz="900" dirty="0"/>
                <a:t>[Vortex Cores]</a:t>
              </a:r>
              <a:endParaRPr lang="ko-KR" altLang="en-US" sz="9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7EE651-A048-8297-3511-23528AAC81FC}"/>
              </a:ext>
            </a:extLst>
          </p:cNvPr>
          <p:cNvGrpSpPr/>
          <p:nvPr/>
        </p:nvGrpSpPr>
        <p:grpSpPr>
          <a:xfrm>
            <a:off x="9086850" y="4362037"/>
            <a:ext cx="2554391" cy="1891612"/>
            <a:chOff x="28575" y="4085812"/>
            <a:chExt cx="2554391" cy="189161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34B2A8A4-65AF-6D8E-CA86-0AF43534C9A1}"/>
                </a:ext>
              </a:extLst>
            </p:cNvPr>
            <p:cNvGrpSpPr/>
            <p:nvPr/>
          </p:nvGrpSpPr>
          <p:grpSpPr>
            <a:xfrm>
              <a:off x="256585" y="4085812"/>
              <a:ext cx="2326380" cy="1523294"/>
              <a:chOff x="273031" y="3847687"/>
              <a:chExt cx="2326380" cy="1523294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00106565-C38C-187D-9DAB-A6B4C6F2F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2031" t="25588" r="37603" b="25295"/>
              <a:stretch>
                <a:fillRect/>
              </a:stretch>
            </p:blipFill>
            <p:spPr>
              <a:xfrm>
                <a:off x="273031" y="3847687"/>
                <a:ext cx="1762127" cy="1523294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7134F395-9DE9-2B34-FE5E-4ADCFC6C5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90781" t="61022"/>
              <a:stretch>
                <a:fillRect/>
              </a:stretch>
            </p:blipFill>
            <p:spPr>
              <a:xfrm>
                <a:off x="2276474" y="4360509"/>
                <a:ext cx="322937" cy="725841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B24ED3-34DE-9929-A098-CD8ED75BD674}"/>
                </a:ext>
              </a:extLst>
            </p:cNvPr>
            <p:cNvSpPr txBox="1"/>
            <p:nvPr/>
          </p:nvSpPr>
          <p:spPr>
            <a:xfrm>
              <a:off x="28575" y="5746592"/>
              <a:ext cx="25543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6 </a:t>
              </a:r>
              <a:r>
                <a:rPr lang="ko-KR" altLang="en-US" sz="900" dirty="0"/>
                <a:t>해석 결과 </a:t>
              </a:r>
              <a:r>
                <a:rPr lang="en-US" altLang="ko-KR" sz="900" dirty="0"/>
                <a:t>[Vortex Cores] </a:t>
              </a:r>
              <a:r>
                <a:rPr lang="ko-KR" altLang="en-US" sz="900" dirty="0"/>
                <a:t>투명도 증가</a:t>
              </a: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C492896-8D7C-3494-7A57-6A65511CC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317595"/>
              </p:ext>
            </p:extLst>
          </p:nvPr>
        </p:nvGraphicFramePr>
        <p:xfrm>
          <a:off x="190500" y="1526842"/>
          <a:ext cx="10515600" cy="1706880"/>
        </p:xfrm>
        <a:graphic>
          <a:graphicData uri="http://schemas.openxmlformats.org/drawingml/2006/table">
            <a:tbl>
              <a:tblPr/>
              <a:tblGrid>
                <a:gridCol w="1495425">
                  <a:extLst>
                    <a:ext uri="{9D8B030D-6E8A-4147-A177-3AD203B41FA5}">
                      <a16:colId xmlns:a16="http://schemas.microsoft.com/office/drawing/2014/main" val="3951805936"/>
                    </a:ext>
                  </a:extLst>
                </a:gridCol>
                <a:gridCol w="9020175">
                  <a:extLst>
                    <a:ext uri="{9D8B030D-6E8A-4147-A177-3AD203B41FA5}">
                      <a16:colId xmlns:a16="http://schemas.microsoft.com/office/drawing/2014/main" val="706944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관찰 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55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전역 유동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로터 원판 아래로 </a:t>
                      </a:r>
                      <a:r>
                        <a:rPr lang="ko-KR" altLang="en-US" sz="1000" b="1"/>
                        <a:t>연속적인 다운워시 제트</a:t>
                      </a:r>
                      <a:r>
                        <a:rPr lang="ko-KR" altLang="en-US" sz="1000"/>
                        <a:t> 형성</a:t>
                      </a:r>
                      <a:r>
                        <a:rPr lang="en-US" altLang="ko-KR" sz="1000"/>
                        <a:t>. </a:t>
                      </a:r>
                      <a:r>
                        <a:rPr lang="ko-KR" altLang="en-US" sz="1000"/>
                        <a:t>등가압</a:t>
                      </a:r>
                      <a:r>
                        <a:rPr lang="en-US" altLang="ko-KR" sz="1000"/>
                        <a:t>(iso-surface, Pressure </a:t>
                      </a:r>
                      <a:r>
                        <a:rPr lang="ko-KR" altLang="en-US" sz="1000"/>
                        <a:t>색상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에서 토러스형 링</a:t>
                      </a:r>
                      <a:r>
                        <a:rPr lang="en-US" altLang="ko-KR" sz="1000"/>
                        <a:t>-</a:t>
                      </a:r>
                      <a:r>
                        <a:rPr lang="ko-KR" altLang="en-US" sz="1000"/>
                        <a:t>와류 구조가 주기적으로 이어짐</a:t>
                      </a:r>
                      <a:r>
                        <a:rPr lang="en-US" altLang="ko-KR" sz="1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694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블레이드 주연</a:t>
                      </a:r>
                      <a:r>
                        <a:rPr lang="en-US" altLang="ko-KR" sz="1000"/>
                        <a:t>(r/R→1)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팁 누설유동 → 팁 와류</a:t>
                      </a:r>
                      <a:r>
                        <a:rPr lang="en-US" altLang="ko-KR" sz="1000" b="1"/>
                        <a:t>(Tip vortex)</a:t>
                      </a:r>
                      <a:r>
                        <a:rPr lang="ko-KR" altLang="en-US" sz="1000"/>
                        <a:t> 분명</a:t>
                      </a:r>
                      <a:r>
                        <a:rPr lang="en-US" altLang="ko-KR" sz="1000"/>
                        <a:t>. </a:t>
                      </a:r>
                      <a:r>
                        <a:rPr lang="ko-KR" altLang="en-US" sz="1000"/>
                        <a:t>두 블레이드 끝단에서 강한 저압 코어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녹</a:t>
                      </a:r>
                      <a:r>
                        <a:rPr lang="en-US" altLang="ko-KR" sz="1000"/>
                        <a:t>-</a:t>
                      </a:r>
                      <a:r>
                        <a:rPr lang="ko-KR" altLang="en-US" sz="1000"/>
                        <a:t>청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와 함께 길게 끌리는 유동 흔적</a:t>
                      </a:r>
                      <a:r>
                        <a:rPr lang="en-US" altLang="ko-KR" sz="1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817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단면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LE↔TE) </a:t>
                      </a:r>
                      <a:r>
                        <a:rPr lang="ko-KR" altLang="en-US" sz="1000"/>
                        <a:t>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LE</a:t>
                      </a:r>
                      <a:r>
                        <a:rPr lang="ko-KR" altLang="en-US" sz="1000"/>
                        <a:t>에서 </a:t>
                      </a:r>
                      <a:r>
                        <a:rPr lang="ko-KR" altLang="en-US" sz="1000" b="1"/>
                        <a:t>저압</a:t>
                      </a:r>
                      <a:r>
                        <a:rPr lang="en-US" altLang="ko-KR" sz="1000" b="1"/>
                        <a:t>(</a:t>
                      </a:r>
                      <a:r>
                        <a:rPr lang="ko-KR" altLang="en-US" sz="1000" b="1"/>
                        <a:t>흡입</a:t>
                      </a:r>
                      <a:r>
                        <a:rPr lang="en-US" altLang="ko-KR" sz="1000" b="1"/>
                        <a:t>) </a:t>
                      </a:r>
                      <a:r>
                        <a:rPr lang="ko-KR" altLang="en-US" sz="1000" b="1"/>
                        <a:t>피크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하부면은 상대고압 → 상하 표면 압력차가 최대인 구간에서 속도 증가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컬러바 </a:t>
                      </a:r>
                      <a:r>
                        <a:rPr lang="en-US" altLang="ko-KR" sz="1000"/>
                        <a:t>green→yellow).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0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허브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뿌리</a:t>
                      </a:r>
                      <a:r>
                        <a:rPr lang="en-US" altLang="ko-KR" sz="1000"/>
                        <a:t>(r/R≲0.2)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상대유속 작아 양력이 약하고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국부 압력 구배 완만</a:t>
                      </a:r>
                      <a:r>
                        <a:rPr lang="en-US" altLang="ko-KR" sz="1000"/>
                        <a:t>. </a:t>
                      </a:r>
                      <a:r>
                        <a:rPr lang="ko-KR" altLang="en-US" sz="1000"/>
                        <a:t>간헐적 얇은 박리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재부착 흔적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격자 종속 가능</a:t>
                      </a:r>
                      <a:r>
                        <a:rPr lang="en-US" altLang="ko-KR" sz="100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03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링</a:t>
                      </a:r>
                      <a:r>
                        <a:rPr lang="en-US" altLang="ko-KR" sz="1000"/>
                        <a:t>-</a:t>
                      </a:r>
                      <a:r>
                        <a:rPr lang="ko-KR" altLang="en-US" sz="1000"/>
                        <a:t>와류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스냅샷별로 로터 원판 둘레에 </a:t>
                      </a:r>
                      <a:r>
                        <a:rPr lang="ko-KR" altLang="en-US" sz="1000" b="1"/>
                        <a:t>폐합된 링 구조</a:t>
                      </a:r>
                      <a:r>
                        <a:rPr lang="ko-KR" altLang="en-US" sz="1000"/>
                        <a:t>가 보임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시동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비정상 거동</a:t>
                      </a:r>
                      <a:r>
                        <a:rPr lang="en-US" altLang="ko-KR" sz="1000"/>
                        <a:t>). </a:t>
                      </a:r>
                      <a:r>
                        <a:rPr lang="ko-KR" altLang="en-US" sz="1000"/>
                        <a:t>팁 와류와 상호작용하며 아래로 경사</a:t>
                      </a:r>
                      <a:r>
                        <a:rPr lang="en-US" altLang="ko-KR" sz="1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14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수치안정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W-cycle MG, 3</a:t>
                      </a:r>
                      <a:r>
                        <a:rPr lang="ko-KR" altLang="en-US" sz="1000" dirty="0"/>
                        <a:t>레벨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 err="1"/>
                        <a:t>댐핑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0.9 </a:t>
                      </a:r>
                      <a:r>
                        <a:rPr lang="ko-KR" altLang="en-US" sz="1000" dirty="0"/>
                        <a:t>설정으로 </a:t>
                      </a:r>
                      <a:r>
                        <a:rPr lang="ko-KR" altLang="en-US" sz="1000" dirty="0" err="1"/>
                        <a:t>수렴성</a:t>
                      </a:r>
                      <a:r>
                        <a:rPr lang="ko-KR" altLang="en-US" sz="1000" dirty="0"/>
                        <a:t> 양호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다만 </a:t>
                      </a:r>
                      <a:r>
                        <a:rPr lang="en-US" altLang="ko-KR" sz="1000" b="1" dirty="0"/>
                        <a:t>wake </a:t>
                      </a:r>
                      <a:r>
                        <a:rPr lang="ko-KR" altLang="en-US" sz="1000" b="1" dirty="0"/>
                        <a:t>분해능</a:t>
                      </a:r>
                      <a:r>
                        <a:rPr lang="ko-KR" altLang="en-US" sz="1000" dirty="0"/>
                        <a:t>과 경계층 해상도는 추가 점검 필요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26466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83A0863-8B42-1283-2B4D-1AD4F31EA087}"/>
              </a:ext>
            </a:extLst>
          </p:cNvPr>
          <p:cNvSpPr txBox="1"/>
          <p:nvPr/>
        </p:nvSpPr>
        <p:spPr>
          <a:xfrm>
            <a:off x="69486" y="1219065"/>
            <a:ext cx="6153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/>
              <a:t>Results &amp; Discussion</a:t>
            </a:r>
            <a:endParaRPr lang="ko-KR" altLang="en-US" sz="140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19D05D7-0FB7-1546-86C5-C77B35CEF523}"/>
              </a:ext>
            </a:extLst>
          </p:cNvPr>
          <p:cNvCxnSpPr>
            <a:cxnSpLocks/>
          </p:cNvCxnSpPr>
          <p:nvPr/>
        </p:nvCxnSpPr>
        <p:spPr>
          <a:xfrm>
            <a:off x="69486" y="1507418"/>
            <a:ext cx="2197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794D4E-0439-681E-FEA5-4DD50E65FA6A}"/>
              </a:ext>
            </a:extLst>
          </p:cNvPr>
          <p:cNvSpPr txBox="1"/>
          <p:nvPr/>
        </p:nvSpPr>
        <p:spPr>
          <a:xfrm>
            <a:off x="6422909" y="3263486"/>
            <a:ext cx="2790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*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Chat GPT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00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6CF1-6F82-5B02-CD30-C6651012E5E2}"/>
              </a:ext>
            </a:extLst>
          </p:cNvPr>
          <p:cNvSpPr txBox="1"/>
          <p:nvPr/>
        </p:nvSpPr>
        <p:spPr>
          <a:xfrm>
            <a:off x="8050779" y="5990541"/>
            <a:ext cx="414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자세한 사항은 </a:t>
            </a:r>
            <a:r>
              <a:rPr lang="en-US" altLang="ko-KR" sz="1200" dirty="0"/>
              <a:t>Git hub</a:t>
            </a:r>
            <a:r>
              <a:rPr lang="ko-KR" altLang="en-US" sz="1200" dirty="0"/>
              <a:t>를 참조해 주시면 감사하겠습니다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링크</a:t>
            </a:r>
            <a:r>
              <a:rPr lang="en-US" altLang="ko-KR" sz="1200" dirty="0"/>
              <a:t>:</a:t>
            </a:r>
            <a:r>
              <a:rPr lang="en-US" altLang="ko-KR" sz="1200" dirty="0">
                <a:hlinkClick r:id="rId3"/>
              </a:rPr>
              <a:t>https://github.com/</a:t>
            </a:r>
            <a:r>
              <a:rPr lang="en-US" altLang="ko-KR" sz="1200" dirty="0" err="1">
                <a:hlinkClick r:id="rId3"/>
              </a:rPr>
              <a:t>Bogeuns</a:t>
            </a:r>
            <a:r>
              <a:rPr lang="en-US" altLang="ko-KR" sz="1200" dirty="0">
                <a:hlinkClick r:id="rId3"/>
              </a:rPr>
              <a:t>/</a:t>
            </a:r>
            <a:r>
              <a:rPr lang="en-US" altLang="ko-KR" sz="1200" dirty="0" err="1">
                <a:hlinkClick r:id="rId3"/>
              </a:rPr>
              <a:t>CFD_Class_Lecture.git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73563</TotalTime>
  <Words>1086</Words>
  <Application>Microsoft Office PowerPoint</Application>
  <PresentationFormat>와이드스크린</PresentationFormat>
  <Paragraphs>171</Paragraphs>
  <Slides>7</Slides>
  <Notes>7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Arial</vt:lpstr>
      <vt:lpstr>Calibri</vt:lpstr>
      <vt:lpstr>Cambria Math</vt:lpstr>
      <vt:lpstr>Wingdings</vt:lpstr>
      <vt:lpstr>1_Office 테마</vt:lpstr>
      <vt:lpstr>SU2 보고서 (7주차)</vt:lpstr>
      <vt:lpstr>1. 해석 격자 조건</vt:lpstr>
      <vt:lpstr>1. 해석 결과 Pitching + Plunging motion</vt:lpstr>
      <vt:lpstr>1. 해석 결과 Pitching + Plunging motion</vt:lpstr>
      <vt:lpstr>1. 해석 격자 조건</vt:lpstr>
      <vt:lpstr>1. 해석 결과 C_l-"α" curve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서보근</cp:lastModifiedBy>
  <cp:revision>1962</cp:revision>
  <cp:lastPrinted>2025-10-14T05:27:31Z</cp:lastPrinted>
  <dcterms:created xsi:type="dcterms:W3CDTF">2022-05-24T00:47:27Z</dcterms:created>
  <dcterms:modified xsi:type="dcterms:W3CDTF">2025-11-12T19:53:09Z</dcterms:modified>
  <cp:version/>
</cp:coreProperties>
</file>